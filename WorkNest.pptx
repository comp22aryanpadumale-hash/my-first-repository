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imes New Roman MT Bold" charset="1" panose="02030802070405020303"/>
      <p:regular r:id="rId19"/>
    </p:embeddedFont>
    <p:embeddedFont>
      <p:font typeface="Times New Roman MT Condensed Bold" charset="1" panose="02030806070405020303"/>
      <p:regular r:id="rId20"/>
    </p:embeddedFont>
    <p:embeddedFont>
      <p:font typeface="Open Sauce" charset="1" panose="00000500000000000000"/>
      <p:regular r:id="rId21"/>
    </p:embeddedFont>
    <p:embeddedFont>
      <p:font typeface="Times New Roman MT" charset="1" panose="020305020704050203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78171" y="2230709"/>
            <a:ext cx="12421564" cy="1475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65"/>
              </a:lnSpc>
            </a:pPr>
            <a:r>
              <a:rPr lang="en-US" b="true" sz="1007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WorkNest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224301" y="7800602"/>
            <a:ext cx="3991089" cy="2166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88"/>
              </a:lnSpc>
              <a:spcBef>
                <a:spcPct val="0"/>
              </a:spcBef>
            </a:pPr>
            <a:r>
              <a:rPr lang="en-US" b="true" sz="3991" strike="noStrike" u="none">
                <a:solidFill>
                  <a:srgbClr val="FFFFFF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Guide</a:t>
            </a:r>
          </a:p>
          <a:p>
            <a:pPr algn="ctr" marL="0" indent="0" lvl="0">
              <a:lnSpc>
                <a:spcPts val="5588"/>
              </a:lnSpc>
              <a:spcBef>
                <a:spcPct val="0"/>
              </a:spcBef>
            </a:pPr>
            <a:r>
              <a:rPr lang="en-US" b="true" sz="3991" strike="noStrike" u="none">
                <a:solidFill>
                  <a:srgbClr val="FFFFFF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Prof. Shiv Shankar</a:t>
            </a:r>
          </a:p>
          <a:p>
            <a:pPr algn="ctr" marL="0" indent="0" lvl="0">
              <a:lnSpc>
                <a:spcPts val="5588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778367" y="3938161"/>
            <a:ext cx="10221171" cy="76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3"/>
              </a:lnSpc>
              <a:spcBef>
                <a:spcPct val="0"/>
              </a:spcBef>
            </a:pPr>
            <a:r>
              <a:rPr lang="en-US" sz="44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A real-time collaboration tool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2611" y="7800602"/>
            <a:ext cx="4599292" cy="2165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8"/>
              </a:lnSpc>
            </a:pPr>
            <a:r>
              <a:rPr lang="en-US" sz="3991" b="true">
                <a:solidFill>
                  <a:srgbClr val="FFFFFF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HOD</a:t>
            </a:r>
          </a:p>
          <a:p>
            <a:pPr algn="ctr">
              <a:lnSpc>
                <a:spcPts val="5588"/>
              </a:lnSpc>
            </a:pPr>
            <a:r>
              <a:rPr lang="en-US" sz="3991" b="true">
                <a:solidFill>
                  <a:srgbClr val="FFFFFF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Dr K.N. Tripathi</a:t>
            </a:r>
          </a:p>
          <a:p>
            <a:pPr algn="ctr">
              <a:lnSpc>
                <a:spcPts val="558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405005" y="335123"/>
            <a:ext cx="9670732" cy="1158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2"/>
              </a:lnSpc>
              <a:spcBef>
                <a:spcPct val="0"/>
              </a:spcBef>
            </a:pPr>
            <a:r>
              <a:rPr lang="en-US" b="true" sz="6137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ISBM College of Engineering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78873" y="5137206"/>
            <a:ext cx="4802969" cy="223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1"/>
              </a:lnSpc>
            </a:pPr>
            <a:r>
              <a:rPr lang="en-US" sz="3101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Nikhil Chavhan, Roll No. 12</a:t>
            </a:r>
          </a:p>
          <a:p>
            <a:pPr algn="ctr">
              <a:lnSpc>
                <a:spcPts val="4341"/>
              </a:lnSpc>
            </a:pPr>
            <a:r>
              <a:rPr lang="en-US" sz="3101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Aditya Bhalerao, Roll No. 09</a:t>
            </a:r>
          </a:p>
          <a:p>
            <a:pPr algn="ctr">
              <a:lnSpc>
                <a:spcPts val="4341"/>
              </a:lnSpc>
            </a:pPr>
            <a:r>
              <a:rPr lang="en-US" sz="3101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Aryan Padumale, Roll No. 04</a:t>
            </a:r>
          </a:p>
          <a:p>
            <a:pPr algn="ctr">
              <a:lnSpc>
                <a:spcPts val="4341"/>
              </a:lnSpc>
              <a:spcBef>
                <a:spcPct val="0"/>
              </a:spcBef>
            </a:pPr>
            <a:r>
              <a:rPr lang="en-US" b="true" sz="310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Goon Banode, Roll No. 07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45327" y="404722"/>
            <a:ext cx="10397345" cy="137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51"/>
              </a:lnSpc>
            </a:pPr>
            <a:r>
              <a:rPr lang="en-US" sz="7179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64958" y="2233704"/>
            <a:ext cx="4758084" cy="84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What is WorkNest?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3051" y="3882338"/>
            <a:ext cx="16230600" cy="360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2024" indent="-311012" lvl="1">
              <a:lnSpc>
                <a:spcPts val="5762"/>
              </a:lnSpc>
              <a:buFont typeface="Arial"/>
              <a:buChar char="•"/>
            </a:pPr>
            <a:r>
              <a:rPr lang="en-US" b="true" sz="2881" spc="13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AI-pow</a:t>
            </a:r>
            <a:r>
              <a:rPr lang="en-US" b="true" sz="2881" spc="13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ered platform that combines meetings, tasks, and team management in one place.</a:t>
            </a:r>
          </a:p>
          <a:p>
            <a:pPr algn="just" marL="622024" indent="-311012" lvl="1">
              <a:lnSpc>
                <a:spcPts val="5762"/>
              </a:lnSpc>
              <a:buFont typeface="Arial"/>
              <a:buChar char="•"/>
            </a:pPr>
            <a:r>
              <a:rPr lang="en-US" b="true" sz="2881" spc="13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Reliable, fast, and easy-to-use for all team sizes.</a:t>
            </a:r>
          </a:p>
          <a:p>
            <a:pPr algn="just" marL="622024" indent="-311012" lvl="1">
              <a:lnSpc>
                <a:spcPts val="5762"/>
              </a:lnSpc>
              <a:buFont typeface="Arial"/>
              <a:buChar char="•"/>
            </a:pPr>
            <a:r>
              <a:rPr lang="en-US" b="true" sz="2881" spc="13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Enables automation and smart task handling with AI.</a:t>
            </a:r>
          </a:p>
          <a:p>
            <a:pPr algn="just" marL="622024" indent="-311012" lvl="1">
              <a:lnSpc>
                <a:spcPts val="5762"/>
              </a:lnSpc>
              <a:buFont typeface="Arial"/>
              <a:buChar char="•"/>
            </a:pPr>
            <a:r>
              <a:rPr lang="en-US" b="true" sz="2881" spc="13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Future-ready with cloud integration and scalable design.</a:t>
            </a:r>
          </a:p>
          <a:p>
            <a:pPr algn="just">
              <a:lnSpc>
                <a:spcPts val="576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-6670915" y="-349631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>
              <a:alphaModFix amt="27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25914" y="933450"/>
            <a:ext cx="14436172" cy="1433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5"/>
              </a:lnSpc>
            </a:pPr>
            <a:r>
              <a:rPr lang="en-US" sz="8788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25914" y="3121201"/>
            <a:ext cx="15550642" cy="600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8976" indent="-314488" lvl="1">
              <a:lnSpc>
                <a:spcPts val="6817"/>
              </a:lnSpc>
              <a:buFont typeface="Arial"/>
              <a:buChar char="•"/>
            </a:pPr>
            <a:r>
              <a:rPr lang="en-US" b="true" sz="2913" spc="235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Unify Tools: Bring all collaboration essentials (tasks, meetings, teams, messaging) under </a:t>
            </a:r>
            <a:r>
              <a:rPr lang="en-US" b="true" sz="2913" spc="235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one secure platform.</a:t>
            </a:r>
          </a:p>
          <a:p>
            <a:pPr algn="l" marL="628976" indent="-314488" lvl="1">
              <a:lnSpc>
                <a:spcPts val="6817"/>
              </a:lnSpc>
              <a:buFont typeface="Arial"/>
              <a:buChar char="•"/>
            </a:pPr>
            <a:r>
              <a:rPr lang="en-US" b="true" sz="2913" spc="235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 Automation: Empower teams with specialized AI that automates repetitive work and enhances productivity.</a:t>
            </a:r>
          </a:p>
          <a:p>
            <a:pPr algn="l" marL="628976" indent="-314488" lvl="1">
              <a:lnSpc>
                <a:spcPts val="6817"/>
              </a:lnSpc>
              <a:buFont typeface="Arial"/>
              <a:buChar char="•"/>
            </a:pPr>
            <a:r>
              <a:rPr lang="en-US" b="true" sz="2913" spc="235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Future-Ready Access: Build a scalable, cloud-integrated workspace accessible anytime, anywhere.</a:t>
            </a:r>
          </a:p>
          <a:p>
            <a:pPr algn="l">
              <a:lnSpc>
                <a:spcPts val="6817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49723" y="752475"/>
            <a:ext cx="11334265" cy="137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51"/>
              </a:lnSpc>
            </a:pPr>
            <a:r>
              <a:rPr lang="en-US" sz="7179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97751" y="2197789"/>
            <a:ext cx="11163583" cy="5886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2024" indent="-311012" lvl="1">
              <a:lnSpc>
                <a:spcPts val="6684"/>
              </a:lnSpc>
              <a:buFont typeface="Arial"/>
              <a:buChar char="•"/>
            </a:pPr>
            <a:r>
              <a:rPr lang="en-US" b="true" sz="2881" spc="13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Too much information overload </a:t>
            </a:r>
          </a:p>
          <a:p>
            <a:pPr algn="just" marL="622024" indent="-311012" lvl="1">
              <a:lnSpc>
                <a:spcPts val="6684"/>
              </a:lnSpc>
              <a:buFont typeface="Arial"/>
              <a:buChar char="•"/>
            </a:pPr>
            <a:r>
              <a:rPr lang="en-US" b="true" sz="2881" spc="13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No clear context during work </a:t>
            </a:r>
          </a:p>
          <a:p>
            <a:pPr algn="just" marL="622024" indent="-311012" lvl="1">
              <a:lnSpc>
                <a:spcPts val="6684"/>
              </a:lnSpc>
              <a:buFont typeface="Arial"/>
              <a:buChar char="•"/>
            </a:pPr>
            <a:r>
              <a:rPr lang="en-US" b="true" sz="2881" spc="13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Weak balance between real-time and flexible work modes </a:t>
            </a:r>
          </a:p>
          <a:p>
            <a:pPr algn="just" marL="622024" indent="-311012" lvl="1">
              <a:lnSpc>
                <a:spcPts val="6684"/>
              </a:lnSpc>
              <a:buFont typeface="Arial"/>
              <a:buChar char="•"/>
            </a:pPr>
            <a:r>
              <a:rPr lang="en-US" b="true" sz="2881" spc="13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Hard to track tasks and updates </a:t>
            </a:r>
          </a:p>
          <a:p>
            <a:pPr algn="just" marL="622024" indent="-311012" lvl="1">
              <a:lnSpc>
                <a:spcPts val="6684"/>
              </a:lnSpc>
              <a:buFont typeface="Arial"/>
              <a:buChar char="•"/>
            </a:pPr>
            <a:r>
              <a:rPr lang="en-US" b="true" sz="2881" spc="13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Too many tools to switch between applications</a:t>
            </a:r>
          </a:p>
          <a:p>
            <a:pPr algn="just" marL="622024" indent="-311012" lvl="1">
              <a:lnSpc>
                <a:spcPts val="6684"/>
              </a:lnSpc>
              <a:buFont typeface="Arial"/>
              <a:buChar char="•"/>
            </a:pPr>
            <a:r>
              <a:rPr lang="en-US" b="true" sz="2881" spc="13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Difficult to know who is available when needed</a:t>
            </a:r>
          </a:p>
          <a:p>
            <a:pPr algn="just">
              <a:lnSpc>
                <a:spcPts val="668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49723" y="752475"/>
            <a:ext cx="11334265" cy="137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51"/>
              </a:lnSpc>
            </a:pPr>
            <a:r>
              <a:rPr lang="en-US" sz="7179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Solution – WorkNest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03374" y="2787197"/>
            <a:ext cx="15426963" cy="5886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2024" indent="-311012" lvl="1">
              <a:lnSpc>
                <a:spcPts val="6684"/>
              </a:lnSpc>
              <a:buFont typeface="Arial"/>
              <a:buChar char="•"/>
            </a:pPr>
            <a:r>
              <a:rPr lang="en-US" b="true" sz="2881" spc="13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WorkNest</a:t>
            </a:r>
            <a:r>
              <a:rPr lang="en-US" b="true" sz="2881" spc="13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is not just another tool – it’s an ecosystem:</a:t>
            </a:r>
          </a:p>
          <a:p>
            <a:pPr algn="just" marL="622024" indent="-311012" lvl="1">
              <a:lnSpc>
                <a:spcPts val="6684"/>
              </a:lnSpc>
              <a:buFont typeface="Arial"/>
              <a:buChar char="•"/>
            </a:pPr>
            <a:r>
              <a:rPr lang="en-US" b="true" sz="2881" spc="13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One Domain, Many Tools → Meetings, tasks, and team chat seamlessly integrated.</a:t>
            </a:r>
          </a:p>
          <a:p>
            <a:pPr algn="just" marL="622024" indent="-311012" lvl="1">
              <a:lnSpc>
                <a:spcPts val="6684"/>
              </a:lnSpc>
              <a:buFont typeface="Arial"/>
              <a:buChar char="•"/>
            </a:pPr>
            <a:r>
              <a:rPr lang="en-US" b="true" sz="2881" spc="13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AI-Driven Collaboration → Smart Context Rooms auto-generate actionable tasks.</a:t>
            </a:r>
          </a:p>
          <a:p>
            <a:pPr algn="just" marL="622024" indent="-311012" lvl="1">
              <a:lnSpc>
                <a:spcPts val="6684"/>
              </a:lnSpc>
              <a:buFont typeface="Arial"/>
              <a:buChar char="•"/>
            </a:pPr>
            <a:r>
              <a:rPr lang="en-US" b="true" sz="2881" spc="13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Future-Proof Foundation → Built for cloud storage, modular expansion, and real-time updates.</a:t>
            </a:r>
          </a:p>
          <a:p>
            <a:pPr algn="just" marL="622024" indent="-311012" lvl="1">
              <a:lnSpc>
                <a:spcPts val="6684"/>
              </a:lnSpc>
              <a:buFont typeface="Arial"/>
              <a:buChar char="•"/>
            </a:pPr>
            <a:r>
              <a:rPr lang="en-US" b="true" sz="2881" spc="13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Reliability + Accessibility → Free, secure, and optimized for teams of all sizes.</a:t>
            </a:r>
          </a:p>
          <a:p>
            <a:pPr algn="just">
              <a:lnSpc>
                <a:spcPts val="668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49723" y="752475"/>
            <a:ext cx="11334265" cy="137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51"/>
              </a:lnSpc>
            </a:pPr>
            <a:r>
              <a:rPr lang="en-US" sz="7179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Project Progress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30518" y="2524354"/>
            <a:ext cx="15426963" cy="6733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2024" indent="-311012" lvl="1">
              <a:lnSpc>
                <a:spcPts val="6684"/>
              </a:lnSpc>
              <a:buFont typeface="Arial"/>
              <a:buChar char="•"/>
            </a:pPr>
            <a:r>
              <a:rPr lang="en-US" b="true" sz="2881" spc="13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Fronte</a:t>
            </a:r>
            <a:r>
              <a:rPr lang="en-US" b="true" sz="2881" spc="13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nd: Completed core UI using Next.js + Tailwind; team &amp; meeting modules functional.</a:t>
            </a:r>
          </a:p>
          <a:p>
            <a:pPr algn="just" marL="622024" indent="-311012" lvl="1">
              <a:lnSpc>
                <a:spcPts val="6684"/>
              </a:lnSpc>
              <a:buFont typeface="Arial"/>
              <a:buChar char="•"/>
            </a:pPr>
            <a:r>
              <a:rPr lang="en-US" b="true" sz="2881" spc="13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Backend: APIs and database setup (Supabase ) mostly documented and but not implemented yet .</a:t>
            </a:r>
          </a:p>
          <a:p>
            <a:pPr algn="just" marL="622024" indent="-311012" lvl="1">
              <a:lnSpc>
                <a:spcPts val="6684"/>
              </a:lnSpc>
              <a:buFont typeface="Arial"/>
              <a:buChar char="•"/>
            </a:pPr>
            <a:r>
              <a:rPr lang="en-US" b="true" sz="2881" spc="13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 System: Multi-agent system integrated for task automation &amp; meeting assistance.</a:t>
            </a:r>
          </a:p>
          <a:p>
            <a:pPr algn="just" marL="622024" indent="-311012" lvl="1">
              <a:lnSpc>
                <a:spcPts val="6684"/>
              </a:lnSpc>
              <a:buFont typeface="Arial"/>
              <a:buChar char="•"/>
            </a:pPr>
            <a:r>
              <a:rPr lang="en-US" b="true" sz="2881" spc="13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Upcoming: Cloud storage setup, performance optimization, and full real-time integration.</a:t>
            </a:r>
          </a:p>
          <a:p>
            <a:pPr algn="just">
              <a:lnSpc>
                <a:spcPts val="668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41721" y="771525"/>
            <a:ext cx="10916507" cy="125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15"/>
              </a:lnSpc>
            </a:pPr>
            <a:r>
              <a:rPr lang="en-US" sz="658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System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85087" y="2239577"/>
            <a:ext cx="14429773" cy="7431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1303" indent="-375651" lvl="1">
              <a:lnSpc>
                <a:spcPts val="6507"/>
              </a:lnSpc>
              <a:buFont typeface="Arial"/>
              <a:buChar char="•"/>
            </a:pPr>
            <a:r>
              <a:rPr lang="en-US" b="true" sz="3479" spc="28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Frontend: Next.js + Tailwind CSS</a:t>
            </a:r>
          </a:p>
          <a:p>
            <a:pPr algn="just" marL="751303" indent="-375651" lvl="1">
              <a:lnSpc>
                <a:spcPts val="6507"/>
              </a:lnSpc>
              <a:buFont typeface="Arial"/>
              <a:buChar char="•"/>
            </a:pPr>
            <a:r>
              <a:rPr lang="en-US" b="true" sz="3479" spc="28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Backend: Node + Javascript +python</a:t>
            </a:r>
          </a:p>
          <a:p>
            <a:pPr algn="just" marL="751303" indent="-375651" lvl="1">
              <a:lnSpc>
                <a:spcPts val="6507"/>
              </a:lnSpc>
              <a:buFont typeface="Arial"/>
              <a:buChar char="•"/>
            </a:pPr>
            <a:r>
              <a:rPr lang="en-US" b="true" sz="3479" spc="28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Database: Supabase</a:t>
            </a:r>
          </a:p>
          <a:p>
            <a:pPr algn="just" marL="751303" indent="-375651" lvl="1">
              <a:lnSpc>
                <a:spcPts val="6507"/>
              </a:lnSpc>
              <a:buFont typeface="Arial"/>
              <a:buChar char="•"/>
            </a:pPr>
            <a:r>
              <a:rPr lang="en-US" b="true" sz="3479" spc="28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 Engine: Specialized multi-agent system (task, debugging, CI/CD, productivity)</a:t>
            </a:r>
          </a:p>
          <a:p>
            <a:pPr algn="just" marL="751303" indent="-375651" lvl="1">
              <a:lnSpc>
                <a:spcPts val="6507"/>
              </a:lnSpc>
              <a:buFont typeface="Arial"/>
              <a:buChar char="•"/>
            </a:pPr>
            <a:r>
              <a:rPr lang="en-US" b="true" sz="3479" spc="28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Hosting: Domain + Custom server with admin panel</a:t>
            </a:r>
          </a:p>
          <a:p>
            <a:pPr algn="just" marL="751303" indent="-375651" lvl="1">
              <a:lnSpc>
                <a:spcPts val="6507"/>
              </a:lnSpc>
              <a:buFont typeface="Arial"/>
              <a:buChar char="•"/>
            </a:pPr>
            <a:r>
              <a:rPr lang="en-US" b="true" sz="3479" spc="28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Flow: User → Frontend → APIs → Database → AI → Response</a:t>
            </a:r>
          </a:p>
          <a:p>
            <a:pPr algn="just">
              <a:lnSpc>
                <a:spcPts val="650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38442" y="441503"/>
            <a:ext cx="3211116" cy="136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79"/>
              </a:lnSpc>
            </a:pPr>
            <a:r>
              <a:rPr lang="en-US" sz="7199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Features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2231" y="2248626"/>
            <a:ext cx="17010951" cy="6292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7878" indent="-408939" lvl="1">
              <a:lnSpc>
                <a:spcPts val="7424"/>
              </a:lnSpc>
              <a:buFont typeface="Arial"/>
              <a:buChar char="•"/>
            </a:pPr>
            <a:r>
              <a:rPr lang="en-US" sz="378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</a:t>
            </a:r>
            <a:r>
              <a:rPr lang="en-US" sz="378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Tools</a:t>
            </a:r>
            <a:r>
              <a:rPr lang="en-US" sz="378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in One Place – Meetings, tasks, teams, and messaging unified.</a:t>
            </a:r>
          </a:p>
          <a:p>
            <a:pPr algn="just" marL="817878" indent="-408939" lvl="1">
              <a:lnSpc>
                <a:spcPts val="7424"/>
              </a:lnSpc>
              <a:buFont typeface="Arial"/>
              <a:buChar char="•"/>
            </a:pPr>
            <a:r>
              <a:rPr lang="en-US" sz="378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Task Panel – Auto-organized with deadlines, requirements, and updates.</a:t>
            </a:r>
          </a:p>
          <a:p>
            <a:pPr algn="just" marL="817878" indent="-408939" lvl="1">
              <a:lnSpc>
                <a:spcPts val="7424"/>
              </a:lnSpc>
              <a:buFont typeface="Arial"/>
              <a:buChar char="•"/>
            </a:pPr>
            <a:r>
              <a:rPr lang="en-US" sz="378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Smart Meeting Rooms – Google Meet-like with AI assistant</a:t>
            </a:r>
          </a:p>
          <a:p>
            <a:pPr algn="just" marL="817878" indent="-408939" lvl="1">
              <a:lnSpc>
                <a:spcPts val="7424"/>
              </a:lnSpc>
              <a:buFont typeface="Arial"/>
              <a:buChar char="•"/>
            </a:pPr>
            <a:r>
              <a:rPr lang="en-US" sz="378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Specialized AI Assistant – Efficient, Hinglish-enabled, designed to understand tasks in real time.</a:t>
            </a:r>
          </a:p>
          <a:p>
            <a:pPr algn="just" marL="817878" indent="-408939" lvl="1">
              <a:lnSpc>
                <a:spcPts val="7424"/>
              </a:lnSpc>
              <a:buFont typeface="Arial"/>
              <a:buChar char="•"/>
            </a:pPr>
            <a:r>
              <a:rPr lang="en-US" sz="378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Team Management –  Role system for structured collaboration.</a:t>
            </a:r>
          </a:p>
          <a:p>
            <a:pPr algn="just">
              <a:lnSpc>
                <a:spcPts val="5103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14179388" y="546074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28552" y="756266"/>
            <a:ext cx="15630897" cy="10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8"/>
              </a:lnSpc>
            </a:pPr>
            <a:r>
              <a:rPr lang="en-US" sz="61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Features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7269" y="2176878"/>
            <a:ext cx="17473462" cy="6460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0059" indent="-500029" lvl="1">
              <a:lnSpc>
                <a:spcPts val="8986"/>
              </a:lnSpc>
              <a:buFont typeface="Arial"/>
              <a:buChar char="•"/>
            </a:pPr>
            <a:r>
              <a:rPr lang="en-US" sz="463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Cloud Data Storage (Future</a:t>
            </a:r>
            <a:r>
              <a:rPr lang="en-US" sz="463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Scope) – Secure, accessible storage for files and records.</a:t>
            </a:r>
          </a:p>
          <a:p>
            <a:pPr algn="l" marL="1000059" indent="-500029" lvl="1">
              <a:lnSpc>
                <a:spcPts val="8986"/>
              </a:lnSpc>
              <a:buFont typeface="Arial"/>
              <a:buChar char="•"/>
            </a:pPr>
            <a:r>
              <a:rPr lang="en-US" sz="463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End-t</a:t>
            </a:r>
            <a:r>
              <a:rPr lang="en-US" sz="463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o-End Encryption – Protects all communication and data.</a:t>
            </a:r>
          </a:p>
          <a:p>
            <a:pPr algn="l" marL="1000059" indent="-500029" lvl="1">
              <a:lnSpc>
                <a:spcPts val="8986"/>
              </a:lnSpc>
              <a:buFont typeface="Arial"/>
              <a:buChar char="•"/>
            </a:pPr>
            <a:r>
              <a:rPr lang="en-US" sz="463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Scalable Performance – Optimized for speed, reliability, and growth.</a:t>
            </a:r>
          </a:p>
          <a:p>
            <a:pPr algn="l">
              <a:lnSpc>
                <a:spcPts val="5862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-8501292" y="-2045214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28552" y="756266"/>
            <a:ext cx="15630897" cy="10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8"/>
              </a:lnSpc>
            </a:pPr>
            <a:r>
              <a:rPr lang="en-US" sz="61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 Case Example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8552" y="2740072"/>
            <a:ext cx="16436215" cy="5213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152402" indent="-576201" lvl="1">
              <a:lnSpc>
                <a:spcPts val="7472"/>
              </a:lnSpc>
              <a:buFont typeface="Arial"/>
              <a:buChar char="•"/>
            </a:pPr>
            <a:r>
              <a:rPr lang="en-US" sz="533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Scenario: Manager assigns a task during a meeting.</a:t>
            </a:r>
          </a:p>
          <a:p>
            <a:pPr algn="just" marL="1152402" indent="-576201" lvl="1">
              <a:lnSpc>
                <a:spcPts val="7472"/>
              </a:lnSpc>
              <a:buFont typeface="Arial"/>
              <a:buChar char="•"/>
            </a:pPr>
            <a:r>
              <a:rPr lang="en-US" sz="533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</a:t>
            </a:r>
            <a:r>
              <a:rPr lang="en-US" sz="533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orkflow:</a:t>
            </a:r>
          </a:p>
          <a:p>
            <a:pPr algn="just">
              <a:lnSpc>
                <a:spcPts val="5932"/>
              </a:lnSpc>
            </a:pPr>
            <a:r>
              <a:rPr lang="en-US" sz="423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                    </a:t>
            </a:r>
            <a:r>
              <a:rPr lang="en-US" sz="423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AI</a:t>
            </a:r>
            <a:r>
              <a:rPr lang="en-US" sz="423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captures task &amp; assigns to user.</a:t>
            </a:r>
          </a:p>
          <a:p>
            <a:pPr algn="just">
              <a:lnSpc>
                <a:spcPts val="5932"/>
              </a:lnSpc>
            </a:pPr>
            <a:r>
              <a:rPr lang="en-US" sz="423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                    </a:t>
            </a:r>
            <a:r>
              <a:rPr lang="en-US" sz="423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Smart Context Room auto-creates.</a:t>
            </a:r>
          </a:p>
          <a:p>
            <a:pPr algn="just">
              <a:lnSpc>
                <a:spcPts val="5932"/>
              </a:lnSpc>
            </a:pPr>
            <a:r>
              <a:rPr lang="en-US" sz="423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                    </a:t>
            </a:r>
            <a:r>
              <a:rPr lang="en-US" sz="423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Task</a:t>
            </a:r>
            <a:r>
              <a:rPr lang="en-US" sz="423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p</a:t>
            </a:r>
            <a:r>
              <a:rPr lang="en-US" sz="423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anel updates with details.</a:t>
            </a:r>
          </a:p>
          <a:p>
            <a:pPr algn="just">
              <a:lnSpc>
                <a:spcPts val="5932"/>
              </a:lnSpc>
            </a:pPr>
            <a:r>
              <a:rPr lang="en-US" sz="423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                    </a:t>
            </a:r>
            <a:r>
              <a:rPr lang="en-US" sz="423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Notifi</a:t>
            </a:r>
            <a:r>
              <a:rPr lang="en-US" sz="423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cation sent instantly to the assignee.</a:t>
            </a:r>
          </a:p>
          <a:p>
            <a:pPr algn="just" marL="202466" indent="-101233" lvl="1">
              <a:lnSpc>
                <a:spcPts val="1809"/>
              </a:lnSpc>
              <a:buFont typeface="Arial"/>
              <a:buChar char="•"/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2589997" y="-7025770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28552" y="1582033"/>
            <a:ext cx="15630897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sz="7000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Benefits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8552" y="4049450"/>
            <a:ext cx="16137960" cy="3557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022867" indent="-511434" lvl="1">
              <a:lnSpc>
                <a:spcPts val="6632"/>
              </a:lnSpc>
              <a:buFont typeface="Arial"/>
              <a:buChar char="•"/>
            </a:pPr>
            <a:r>
              <a:rPr lang="en-US" sz="473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For Managers: Clea</a:t>
            </a:r>
            <a:r>
              <a:rPr lang="en-US" sz="473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 task visibility &amp; accountability.</a:t>
            </a:r>
          </a:p>
          <a:p>
            <a:pPr algn="just" marL="1022867" indent="-511434" lvl="1">
              <a:lnSpc>
                <a:spcPts val="6632"/>
              </a:lnSpc>
              <a:buFont typeface="Arial"/>
              <a:buChar char="•"/>
            </a:pPr>
            <a:r>
              <a:rPr lang="en-US" sz="473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For</a:t>
            </a:r>
            <a:r>
              <a:rPr lang="en-US" sz="473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</a:t>
            </a:r>
            <a:r>
              <a:rPr lang="en-US" sz="473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eams: All-in-one workspace = less context switching.</a:t>
            </a:r>
          </a:p>
          <a:p>
            <a:pPr algn="just" marL="1022867" indent="-511434" lvl="1">
              <a:lnSpc>
                <a:spcPts val="6632"/>
              </a:lnSpc>
              <a:buFont typeface="Arial"/>
              <a:buChar char="•"/>
            </a:pPr>
            <a:r>
              <a:rPr lang="en-US" sz="473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For Organizatio</a:t>
            </a:r>
            <a:r>
              <a:rPr lang="en-US" sz="473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ns: AI automation = faster execution &amp; cost savings.</a:t>
            </a:r>
          </a:p>
          <a:p>
            <a:pPr algn="just">
              <a:lnSpc>
                <a:spcPts val="651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13812531" y="-715900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28552" y="718166"/>
            <a:ext cx="15630897" cy="140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3"/>
              </a:lnSpc>
            </a:pPr>
            <a:r>
              <a:rPr lang="en-US" sz="8299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51323" y="2457717"/>
            <a:ext cx="9655622" cy="568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58"/>
              </a:lnSpc>
            </a:pPr>
            <a:r>
              <a:rPr lang="en-US" sz="780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Everything You Need</a:t>
            </a:r>
          </a:p>
          <a:p>
            <a:pPr algn="ctr">
              <a:lnSpc>
                <a:spcPts val="15058"/>
              </a:lnSpc>
            </a:pPr>
            <a:r>
              <a:rPr lang="en-US" sz="780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Under one place </a:t>
            </a:r>
          </a:p>
          <a:p>
            <a:pPr algn="l">
              <a:lnSpc>
                <a:spcPts val="15058"/>
              </a:lnSpc>
            </a:pPr>
            <a:r>
              <a:rPr lang="en-US" sz="780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That's the Worknest !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435729">
            <a:off x="-3241105" y="-2477065"/>
            <a:ext cx="7951775" cy="8527373"/>
          </a:xfrm>
          <a:custGeom>
            <a:avLst/>
            <a:gdLst/>
            <a:ahLst/>
            <a:cxnLst/>
            <a:rect r="r" b="b" t="t" l="l"/>
            <a:pathLst>
              <a:path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60132" y="3430405"/>
            <a:ext cx="10359240" cy="310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12"/>
              </a:lnSpc>
              <a:spcBef>
                <a:spcPct val="0"/>
              </a:spcBef>
            </a:pPr>
            <a:r>
              <a:rPr lang="en-US" b="true" sz="184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DAGt373-lgI</dc:identifier>
  <dcterms:modified xsi:type="dcterms:W3CDTF">2011-08-01T06:04:30Z</dcterms:modified>
  <cp:revision>1</cp:revision>
  <dc:title>WorkNest</dc:title>
</cp:coreProperties>
</file>